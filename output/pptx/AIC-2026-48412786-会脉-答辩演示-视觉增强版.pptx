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f2c5082b8b476e" /><Relationship Type="http://schemas.openxmlformats.org/officeDocument/2006/relationships/extended-properties" Target="/docProps/app.xml" Id="Ra1af0441260b4968" /><Relationship Type="http://schemas.openxmlformats.org/officeDocument/2006/relationships/officeDocument" Target="/ppt/presentation.xml" Id="Ra229a06a585e40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6be1d7ef2544e0"/>
  </p:sldMasterIdLst>
  <p:notesMasterIdLst>
    <p:notesMasterId xmlns:r="http://schemas.openxmlformats.org/officeDocument/2006/relationships" r:id="R3eb040a8c1474ed9"/>
  </p:notesMasterIdLst>
  <p:sldIdLst>
    <p:sldId xmlns:r="http://schemas.openxmlformats.org/officeDocument/2006/relationships" id="256" r:id="R9860c074e6da4ee0"/>
    <p:sldId xmlns:r="http://schemas.openxmlformats.org/officeDocument/2006/relationships" id="257" r:id="Rf030fd01a10a4e73"/>
    <p:sldId xmlns:r="http://schemas.openxmlformats.org/officeDocument/2006/relationships" id="258" r:id="R292e06f64825497e"/>
    <p:sldId xmlns:r="http://schemas.openxmlformats.org/officeDocument/2006/relationships" id="259" r:id="Rc4fd34a16c584474"/>
    <p:sldId xmlns:r="http://schemas.openxmlformats.org/officeDocument/2006/relationships" id="260" r:id="R252ab56760df4302"/>
    <p:sldId xmlns:r="http://schemas.openxmlformats.org/officeDocument/2006/relationships" id="261" r:id="R6b8811ea70024343"/>
    <p:sldId xmlns:r="http://schemas.openxmlformats.org/officeDocument/2006/relationships" id="262" r:id="Rd393b7fc4fc04b7d"/>
    <p:sldId xmlns:r="http://schemas.openxmlformats.org/officeDocument/2006/relationships" id="263" r:id="R91bda6dbde6c440f"/>
    <p:sldId xmlns:r="http://schemas.openxmlformats.org/officeDocument/2006/relationships" id="264" r:id="R63220fd8f2754afb"/>
    <p:sldId xmlns:r="http://schemas.openxmlformats.org/officeDocument/2006/relationships" id="265" r:id="Rc90d5636553d4a61"/>
    <p:sldId xmlns:r="http://schemas.openxmlformats.org/officeDocument/2006/relationships" id="266" r:id="R1ab14ad0c8454bef"/>
    <p:sldId xmlns:r="http://schemas.openxmlformats.org/officeDocument/2006/relationships" id="267" r:id="Rc569f0d81cc64d6e"/>
    <p:sldId xmlns:r="http://schemas.openxmlformats.org/officeDocument/2006/relationships" id="268" r:id="R7edc547b8eef466a"/>
    <p:sldId xmlns:r="http://schemas.openxmlformats.org/officeDocument/2006/relationships" id="269" r:id="R000e5f0ee67f4f6d"/>
    <p:sldId xmlns:r="http://schemas.openxmlformats.org/officeDocument/2006/relationships" id="270" r:id="R89ab96f4cbb14b9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6ea07c4402436f" /><Relationship Type="http://schemas.openxmlformats.org/officeDocument/2006/relationships/slideMaster" Target="/ppt/slideMasters/slideMaster1.xml" Id="R5c6be1d7ef2544e0" /><Relationship Type="http://schemas.openxmlformats.org/officeDocument/2006/relationships/notesMaster" Target="/ppt/notesMasters/notesMaster1.xml" Id="R3eb040a8c1474ed9" /><Relationship Type="http://schemas.openxmlformats.org/officeDocument/2006/relationships/presProps" Target="/ppt/presProps.xml" Id="Rb23bdfbb70854014" /><Relationship Type="http://schemas.openxmlformats.org/officeDocument/2006/relationships/tableStyles" Target="/ppt/tableStyles.xml" Id="R3603664e8ec24201" /><Relationship Type="http://schemas.openxmlformats.org/officeDocument/2006/relationships/slide" Target="/ppt/slides/slide1.xml" Id="R9860c074e6da4ee0" /><Relationship Type="http://schemas.openxmlformats.org/officeDocument/2006/relationships/slide" Target="/ppt/slides/slide2.xml" Id="Rf030fd01a10a4e73" /><Relationship Type="http://schemas.openxmlformats.org/officeDocument/2006/relationships/slide" Target="/ppt/slides/slide3.xml" Id="R292e06f64825497e" /><Relationship Type="http://schemas.openxmlformats.org/officeDocument/2006/relationships/slide" Target="/ppt/slides/slide4.xml" Id="Rc4fd34a16c584474" /><Relationship Type="http://schemas.openxmlformats.org/officeDocument/2006/relationships/slide" Target="/ppt/slides/slide5.xml" Id="R252ab56760df4302" /><Relationship Type="http://schemas.openxmlformats.org/officeDocument/2006/relationships/slide" Target="/ppt/slides/slide6.xml" Id="R6b8811ea70024343" /><Relationship Type="http://schemas.openxmlformats.org/officeDocument/2006/relationships/slide" Target="/ppt/slides/slide7.xml" Id="Rd393b7fc4fc04b7d" /><Relationship Type="http://schemas.openxmlformats.org/officeDocument/2006/relationships/slide" Target="/ppt/slides/slide8.xml" Id="R91bda6dbde6c440f" /><Relationship Type="http://schemas.openxmlformats.org/officeDocument/2006/relationships/slide" Target="/ppt/slides/slide9.xml" Id="R63220fd8f2754afb" /><Relationship Type="http://schemas.openxmlformats.org/officeDocument/2006/relationships/slide" Target="/ppt/slides/slide10.xml" Id="Rc90d5636553d4a61" /><Relationship Type="http://schemas.openxmlformats.org/officeDocument/2006/relationships/slide" Target="/ppt/slides/slide11.xml" Id="R1ab14ad0c8454bef" /><Relationship Type="http://schemas.openxmlformats.org/officeDocument/2006/relationships/slide" Target="/ppt/slides/slide12.xml" Id="Rc569f0d81cc64d6e" /><Relationship Type="http://schemas.openxmlformats.org/officeDocument/2006/relationships/slide" Target="/ppt/slides/slide13.xml" Id="R7edc547b8eef466a" /><Relationship Type="http://schemas.openxmlformats.org/officeDocument/2006/relationships/slide" Target="/ppt/slides/slide14.xml" Id="R000e5f0ee67f4f6d" /><Relationship Type="http://schemas.openxmlformats.org/officeDocument/2006/relationships/slide" Target="/ppt/slides/slide15.xml" Id="R89ab96f4cbb14b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e4b9b13a044e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ef08fdbaa54623" /><Relationship Type="http://schemas.openxmlformats.org/officeDocument/2006/relationships/notesMaster" Target="/ppt/notesMasters/notesMaster1.xml" Id="Rc2b9eb3681364b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28cefb126b4798" /><Relationship Type="http://schemas.openxmlformats.org/officeDocument/2006/relationships/notesMaster" Target="/ppt/notesMasters/notesMaster1.xml" Id="R2bc3829bccb644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40c2f54bcd40a1" /><Relationship Type="http://schemas.openxmlformats.org/officeDocument/2006/relationships/notesMaster" Target="/ppt/notesMasters/notesMaster1.xml" Id="R1ad4fd5d190849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5520671b064f46" /><Relationship Type="http://schemas.openxmlformats.org/officeDocument/2006/relationships/notesMaster" Target="/ppt/notesMasters/notesMaster1.xml" Id="Rc4fb0f380e1440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d741a71b9442e3" /><Relationship Type="http://schemas.openxmlformats.org/officeDocument/2006/relationships/notesMaster" Target="/ppt/notesMasters/notesMaster1.xml" Id="Radafddec14ce45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e5dc636f354922" /><Relationship Type="http://schemas.openxmlformats.org/officeDocument/2006/relationships/notesMaster" Target="/ppt/notesMasters/notesMaster1.xml" Id="R9fb8fe7ad9f445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db9adb19f14bde" /><Relationship Type="http://schemas.openxmlformats.org/officeDocument/2006/relationships/notesMaster" Target="/ppt/notesMasters/notesMaster1.xml" Id="Ra6925a4cb60547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d572b2cf22448b" /><Relationship Type="http://schemas.openxmlformats.org/officeDocument/2006/relationships/notesMaster" Target="/ppt/notesMasters/notesMaster1.xml" Id="R53c270eddb4947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caf8d7083940e6" /><Relationship Type="http://schemas.openxmlformats.org/officeDocument/2006/relationships/notesMaster" Target="/ppt/notesMasters/notesMaster1.xml" Id="Ra691317ce33543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ee6ebc36f2498d" /><Relationship Type="http://schemas.openxmlformats.org/officeDocument/2006/relationships/notesMaster" Target="/ppt/notesMasters/notesMaster1.xml" Id="R9c94ec0b79c444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97dcb8142b54951" /><Relationship Type="http://schemas.openxmlformats.org/officeDocument/2006/relationships/notesMaster" Target="/ppt/notesMasters/notesMaster1.xml" Id="R7ab82f28aea343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d55ad542754f56" /><Relationship Type="http://schemas.openxmlformats.org/officeDocument/2006/relationships/notesMaster" Target="/ppt/notesMasters/notesMaster1.xml" Id="R9e256dc09c8e43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0f04de9a0443c1" /><Relationship Type="http://schemas.openxmlformats.org/officeDocument/2006/relationships/notesMaster" Target="/ppt/notesMasters/notesMaster1.xml" Id="R8316a164751a44f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5cf69f6dbd74301" /><Relationship Type="http://schemas.openxmlformats.org/officeDocument/2006/relationships/notesMaster" Target="/ppt/notesMasters/notesMaster1.xml" Id="R925cd49a12b248f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1004bb08ce94cb9" /><Relationship Type="http://schemas.openxmlformats.org/officeDocument/2006/relationships/notesMaster" Target="/ppt/notesMasters/notesMaster1.xml" Id="R9c6ae6616da84b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 20 秒：会脉让会议从一次性语音，变成持续可编辑、可追溯的决策脉络。今天重点演示发言如何实时落图，再说明背后的双智能体与算法设计。封面完整沿用用户提供的 HTML 主视觉背景。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素材与依据：项目 README；会脉-HTML演示/assets/huimai-theme.png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30 秒。用一次会议的痛点引入：常见会议工具可以转写和摘要，但争论、依据与结论之间的关系仍需要会后人工补。会脉定位于结构化决策脉络。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素材与依据：项目方案与 README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30 秒。概览主流程。右侧是来自此前 HTML 的视觉概念，不作为真实产品截图；真实本地 Demo 在第十页。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素材与依据：README；HTML assets/workspace-reference.png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20 秒。这里是演示用例，不是历史真实会议。输入可以来自本地语音转写或手动文本；系统保留原始发言元信息。用 PPT 下一页的渐进揭示模拟实时处理。插图为概念视觉，不是实际产品截图。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素材与依据：README：输入链路与 NormUtterance 设计；本项目生成概念插图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25 秒。Analyzer 串行消费规范化发言，抽取议题、观点、依据、结论、行动与分歧等结构信息，形成 MeetingSummary。此页为能力流程示意，文本和结构是演示样例。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素材与依据：doc/Design_Agent_DataFlow.md；README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35 秒，建议现场停顿并指向新增节点。Syncer 消费 MeetingSummary 与当前关系图，产出 GraphUpdateOp；操作经解析与校验后更新图谱。这里的分镜展示系统设计与本地 Demo 能力，实时语音到模型图谱完整端到端仍需现场环境验证。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素材与依据：doc/Design_Agent_DataFlow.md；README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40 秒。强调 Analyzer 不直接改图，Syncer 不重新解释全部原话。两个阶段用 MeetingSummary 合约衔接，图谱更新可以校验，也便于人工干预。插图为架构概念视觉。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素材与依据：doc/Design_Agent_DataFlow.md；README；本项目生成概念插图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45 秒。介绍算法的关键约束：语义抽取、关系分类、结构化操作、校验与人工编辑优先。当前仓库的 MockLLM 用于演示规则流程，真实模型推理质量需要独立评测。背景插图展示双智能体链路，不代表真实运行界面。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素材与依据：README；doc/Design_InputProcessing.md；doc/Design_Agent_DataFlow.md；本项目生成概念插图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40 秒。Store A 是衍生关系图，Store B 是原始发言。图节点的 metadata_refs 指向原始材料，使结论、观点与证据能够回看。右侧是证据链概念插图，不是实际产品截图。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素材与依据：doc/Design_Agent_DataFlow.md；README；本项目生成概念插图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35 秒。这里展示仓库中 2026-10-06 的本地产品审阅截图。应现场打开真实应用演示时，再进入原话、关系过滤和编辑等操作；截图只证明界面当前形态，不证明完整 ASR/LLM 端到端质量。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素材与依据：doc/assets/product-audit-2026-10-06/02-desktop-graph.jpg；README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35 秒。这张是真实 Demo 的关系过滤界面截图。说明用户可以按关系查看脉络，快速识别分歧和重复信息，进一步编辑图谱并回查来源。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素材与依据：doc/assets/product-audit-2026-10-06/05-relation-filter.jpg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35 秒。仅把这个性能数据用于说明当前本地图谱交互，不作高并发、P95 或真实会议端到端性能承诺。36/81ms 首屏，457/637ms 完整刷新，SVG 导出中位数 5.1/9.9ms；源文件给出了测试环境和限制。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素材与依据：doc/reports/performance-benchmark-2026-10-07.md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35 秒。三张图片都是本地 Demo 审阅截图，分别展示全局图谱、关系过滤和议题结构。结合实时结构更新、显式关系与证据回溯说明创新点，不引用未经验证的节省时长或准确率百分比。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素材与依据：doc/assets/product-audit-2026-10-06/02-desktop-graph.jpg；05-relation-filter.jpg；04-issue-structure.jpg；README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35 秒。主动讲清楚当前边界：仓库 README 定位为 local Demo，真实麦克风端到端、真实 LLM 质量和 M1 全链路稳定性还在推进。右侧为本地 Demo 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素材与依据：README；会脉-HTML演示/index.html；doc/assets/product-audit-2026-10-06/04-issue-structure.jpg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20 秒，转到真实本地 Demo。推荐演示流程：输入预设短发言，观察图谱新增节点和关系，点击节点回看原话，再切到关系过滤。如果当天模型或麦克风链路不稳定，可用仓库现有手动输入和本地演示流程；请勿把预置样例描述成现场真实自动识别效果。背景为概念视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素材与依据：README；本地 Demo；本项目生成概念插图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c4076c92864b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45e56a9eef489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9195cc2f64467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90d569f60c4c1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578b36ce1940e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720b793c4e45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24C2C6-545A-40DB-A6A9-89097D728E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CB0311-218C-45C1-9146-E71FDE5DA1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A98E13F-7EA8-4E5C-9DFA-D8EAA5244C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92410E-EA7A-49D8-938E-CC39FC1224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7DCDF89-804F-4C99-834B-8DD91BCC49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470A029-0BBA-4AC6-8258-6DBF5E4CFA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A796B2-F2B4-464F-BE72-8B8A4FC582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03D211D-9EA8-439B-9210-BF38CFB394F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C00DDA-C3BC-44C7-9F8C-87EA214BFC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B48438-2242-4699-BE03-B11E479603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38cc11e7e942b0" /><Relationship Type="http://schemas.openxmlformats.org/officeDocument/2006/relationships/slideLayout" Target="/ppt/slideLayouts/slideLayout1.xml" Id="R423647af070a42da" /><Relationship Type="http://schemas.openxmlformats.org/officeDocument/2006/relationships/slideLayout" Target="/ppt/slideLayouts/slideLayout2.xml" Id="Rd5ebd185915b416b" /><Relationship Type="http://schemas.openxmlformats.org/officeDocument/2006/relationships/slideLayout" Target="/ppt/slideLayouts/slideLayout3.xml" Id="R53aa6d1c5020446b" /><Relationship Type="http://schemas.openxmlformats.org/officeDocument/2006/relationships/slideLayout" Target="/ppt/slideLayouts/slideLayout4.xml" Id="R9b9637fd639e42cd" /><Relationship Type="http://schemas.openxmlformats.org/officeDocument/2006/relationships/slideLayout" Target="/ppt/slideLayouts/slideLayout5.xml" Id="R6a9987c016f3412d" /><Relationship Type="http://schemas.openxmlformats.org/officeDocument/2006/relationships/slideLayout" Target="/ppt/slideLayouts/slideLayout6.xml" Id="R4c4a1b2a1b5647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3647af070a42da"/>
    <p:sldLayoutId xmlns:r="http://schemas.openxmlformats.org/officeDocument/2006/relationships" id="2147483650" r:id="Rd5ebd185915b416b"/>
    <p:sldLayoutId xmlns:r="http://schemas.openxmlformats.org/officeDocument/2006/relationships" id="2147483651" r:id="R53aa6d1c5020446b"/>
    <p:sldLayoutId xmlns:r="http://schemas.openxmlformats.org/officeDocument/2006/relationships" id="2147483652" r:id="R9b9637fd639e42cd"/>
    <p:sldLayoutId xmlns:r="http://schemas.openxmlformats.org/officeDocument/2006/relationships" id="2147483653" r:id="R6a9987c016f3412d"/>
    <p:sldLayoutId xmlns:r="http://schemas.openxmlformats.org/officeDocument/2006/relationships" id="2147483654" r:id="R4c4a1b2a1b5647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2338a22e9d45dc" /><Relationship Type="http://schemas.openxmlformats.org/officeDocument/2006/relationships/image" Target="/ppt/media/image.png" Id="Re5daee7e278343c7" /><Relationship Type="http://schemas.openxmlformats.org/officeDocument/2006/relationships/notesSlide" Target="/ppt/notesSlides/notesSlide1.xml" Id="R614273101c4542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97de2744d74190" /><Relationship Type="http://schemas.openxmlformats.org/officeDocument/2006/relationships/image" Target="/ppt/media/image2.png" Id="R1319e8d9ac4e41b2" /><Relationship Type="http://schemas.openxmlformats.org/officeDocument/2006/relationships/notesSlide" Target="/ppt/notesSlides/notesSlide2.xml" Id="R2cfd075d5afc44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ab4e84d08d4fc4" /><Relationship Type="http://schemas.openxmlformats.org/officeDocument/2006/relationships/image" Target="/ppt/media/image3.png" Id="R81b7686029364d55" /><Relationship Type="http://schemas.openxmlformats.org/officeDocument/2006/relationships/image" Target="/ppt/media/image4.png" Id="Rb78db84c22b64c5b" /><Relationship Type="http://schemas.openxmlformats.org/officeDocument/2006/relationships/notesSlide" Target="/ppt/notesSlides/notesSlide3.xml" Id="Re428443beb2447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8f7f739a6e46f8" /><Relationship Type="http://schemas.openxmlformats.org/officeDocument/2006/relationships/image" Target="/ppt/media/image5.png" Id="Re546b5568c6c45a5" /><Relationship Type="http://schemas.openxmlformats.org/officeDocument/2006/relationships/notesSlide" Target="/ppt/notesSlides/notesSlide4.xml" Id="R32e1a3819c5c4b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c87f73cc3b4dfe" /><Relationship Type="http://schemas.openxmlformats.org/officeDocument/2006/relationships/image" Target="/ppt/media/image6.png" Id="R6b457491ced94eef" /><Relationship Type="http://schemas.openxmlformats.org/officeDocument/2006/relationships/notesSlide" Target="/ppt/notesSlides/notesSlide5.xml" Id="Rdab26b9112d64e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6becef88884732" /><Relationship Type="http://schemas.openxmlformats.org/officeDocument/2006/relationships/image" Target="/ppt/media/image7.png" Id="R1986f24db00b4e32" /><Relationship Type="http://schemas.openxmlformats.org/officeDocument/2006/relationships/notesSlide" Target="/ppt/notesSlides/notesSlide6.xml" Id="Rab1a0e75795648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a244b8d77a4b0c" /><Relationship Type="http://schemas.openxmlformats.org/officeDocument/2006/relationships/image" Target="/ppt/media/image8.png" Id="Rd8aa06c8128e43a3" /><Relationship Type="http://schemas.openxmlformats.org/officeDocument/2006/relationships/notesSlide" Target="/ppt/notesSlides/notesSlide7.xml" Id="R9c6a2050b08c4d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a859f971bf4e3e" /><Relationship Type="http://schemas.openxmlformats.org/officeDocument/2006/relationships/image" Target="/ppt/media/image9.png" Id="Rf68ae05a70754169" /><Relationship Type="http://schemas.openxmlformats.org/officeDocument/2006/relationships/notesSlide" Target="/ppt/notesSlides/notesSlide8.xml" Id="R7b21ed34356d47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702cf3648d4b8b" /><Relationship Type="http://schemas.openxmlformats.org/officeDocument/2006/relationships/image" Target="/ppt/media/image10.png" Id="R906dfbd74e4e4216" /><Relationship Type="http://schemas.openxmlformats.org/officeDocument/2006/relationships/notesSlide" Target="/ppt/notesSlides/notesSlide9.xml" Id="R6dc77d74a7ef41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dd6cd1c9b243ca" /><Relationship Type="http://schemas.openxmlformats.org/officeDocument/2006/relationships/image" Target="/ppt/media/image11.png" Id="R36698ba3902143d0" /><Relationship Type="http://schemas.openxmlformats.org/officeDocument/2006/relationships/image" Target="/ppt/media/image.jpeg" Id="Rc6fa90ec5edc4aaa" /><Relationship Type="http://schemas.openxmlformats.org/officeDocument/2006/relationships/notesSlide" Target="/ppt/notesSlides/notesSlide10.xml" Id="R55a23ddeefe24c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773b8ddb3d4ce6" /><Relationship Type="http://schemas.openxmlformats.org/officeDocument/2006/relationships/image" Target="/ppt/media/image12.png" Id="Rb101da1fdfad4554" /><Relationship Type="http://schemas.openxmlformats.org/officeDocument/2006/relationships/image" Target="/ppt/media/image2.jpeg" Id="R37433c165b434297" /><Relationship Type="http://schemas.openxmlformats.org/officeDocument/2006/relationships/notesSlide" Target="/ppt/notesSlides/notesSlide11.xml" Id="R8124558ba5004d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7c575406394341" /><Relationship Type="http://schemas.openxmlformats.org/officeDocument/2006/relationships/image" Target="/ppt/media/image13.png" Id="Rd1886a5b55144ac1" /><Relationship Type="http://schemas.openxmlformats.org/officeDocument/2006/relationships/notesSlide" Target="/ppt/notesSlides/notesSlide12.xml" Id="Rf523423e7c104e7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dad5b0f15347a0" /><Relationship Type="http://schemas.openxmlformats.org/officeDocument/2006/relationships/image" Target="/ppt/media/image14.png" Id="Rdb8929ccc88e4f2e" /><Relationship Type="http://schemas.openxmlformats.org/officeDocument/2006/relationships/image" Target="/ppt/media/image3.jpeg" Id="R9520665e564a4747" /><Relationship Type="http://schemas.openxmlformats.org/officeDocument/2006/relationships/image" Target="/ppt/media/image4.jpeg" Id="R847ac4b2fee94cd5" /><Relationship Type="http://schemas.openxmlformats.org/officeDocument/2006/relationships/image" Target="/ppt/media/image5.jpeg" Id="R7a60aebe8c6e40df" /><Relationship Type="http://schemas.openxmlformats.org/officeDocument/2006/relationships/notesSlide" Target="/ppt/notesSlides/notesSlide13.xml" Id="Rf66b780635b64eb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24768b8f294d69" /><Relationship Type="http://schemas.openxmlformats.org/officeDocument/2006/relationships/image" Target="/ppt/media/image15.png" Id="Rda37b7e710b44bba" /><Relationship Type="http://schemas.openxmlformats.org/officeDocument/2006/relationships/image" Target="/ppt/media/image6.jpeg" Id="R27de28384ec640a8" /><Relationship Type="http://schemas.openxmlformats.org/officeDocument/2006/relationships/notesSlide" Target="/ppt/notesSlides/notesSlide14.xml" Id="Reda5f8ae239841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8ac1ba10bb489f" /><Relationship Type="http://schemas.openxmlformats.org/officeDocument/2006/relationships/image" Target="/ppt/media/image16.png" Id="R45f22ff7627e4968" /><Relationship Type="http://schemas.openxmlformats.org/officeDocument/2006/relationships/notesSlide" Target="/ppt/notesSlides/notesSlide15.xml" Id="Rc2c692db10b142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2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EEB9A-ECEB-48FC-8464-582A413E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2E1E2-C921-4F93-8084-FE6DACE3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AIC 2026 · AI 软件赛道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EC60A-B8BB-4E75-98F3-E090AE18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6195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01 / 15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1E885-9D64-4006-834D-E469874CBA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daee7e278343c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067A9-8305-42B3-B532-86329145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72375"/>
            <a:ext cx="15240000" cy="10001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A13">
                  <a:alpha val="97000"/>
                </a:srgbClr>
              </a:gs>
              <a:gs pos="100000">
                <a:srgbClr val="050A13">
                  <a:alpha val="80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594DB-CBCA-4B99-BC2B-C9B8DD00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43825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会脉—会议脉络智能体系统平台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9B66B-ECC5-4BAB-8D5E-2AE4AE81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780097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725" b="0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哭久了会累队  ·  AIC-2026-48412786</a:t>
            </a:r>
          </a:p>
        </p:txBody>
      </p:sp>
    </p:spTree>
    <p:extLst>
      <p:ext uri="{BB962C8B-B14F-4D97-AF65-F5344CB8AC3E}">
        <p14:creationId xmlns:p14="http://schemas.microsoft.com/office/powerpoint/2010/main" val="1286432570"/>
      </p:ext>
    </p:extLst>
  </p:cSld>
  <p:transition spd="med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2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E3598C-2C0E-43D8-AD76-B4EEFF0F42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9e8d9ac4e41b2"/>
          <a:srcRect xmlns:a="http://schemas.openxmlformats.org/drawingml/2006/main" l="0" t="1195" r="0" b="1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6D02C-47ED-40EE-92F5-70E6476C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01F">
                  <a:alpha val="94000"/>
                </a:srgbClr>
              </a:gs>
              <a:gs pos="47000">
                <a:srgbClr val="07101E">
                  <a:alpha val="84000"/>
                </a:srgbClr>
              </a:gs>
              <a:gs pos="100000">
                <a:srgbClr val="07101E">
                  <a:alpha val="42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6C1DA-2669-4284-AF34-8ED8D040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76625"/>
            <a:ext cx="8572500" cy="46672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79CF">
                  <a:alpha val="18000"/>
                </a:srgbClr>
              </a:gs>
              <a:gs pos="72000">
                <a:srgbClr val="1679C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E4F0D-992C-48CD-B834-ECD43315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85A10-B5C5-4098-A849-475622E3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为什么需要会脉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71BDF-99AE-4A9C-A5FF-FC1E7896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6195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02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B6DE7-CC43-4A4F-9B45-F1444429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6775"/>
            <a:ext cx="13668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会议结束后，真正丢失的是“关系”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A3E88-EA95-44D9-9488-D73219CE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38325"/>
            <a:ext cx="13144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记录了说过什么，却难回答谁支持、谁反对、决议如何形成。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8412E-5BF6-4E1C-B981-DD0BC32A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19425"/>
            <a:ext cx="104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5700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700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4F6600-0757-4287-B451-530E8D24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9575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8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8C52D-FED7-4E12-8D3F-297B6C01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196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信息散落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6E2CAB-B587-468F-9C86-B2D13CA4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3875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语音、纪要与任务脱节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A44E8-A5AB-4B89-B83A-D89F6847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019425"/>
            <a:ext cx="104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F073A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5700" b="1">
                <a:solidFill>
                  <a:srgbClr val="F07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700" b="1">
                <a:solidFill>
                  <a:srgbClr val="F073A6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0EE424-DCB5-4E7F-BC99-E543FFBD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09575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C34940-03B0-42DE-A010-53F58701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4196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观点冲突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E1227-47F4-4C87-BE6B-CE11F798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23875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反对意见难以被保留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B4D513-564F-4627-AD17-A78817B7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019425"/>
            <a:ext cx="104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F8B66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5700" b="1">
                <a:solidFill>
                  <a:srgbClr val="F8B6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700" b="1">
                <a:solidFill>
                  <a:srgbClr val="F8B665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5739CA-1E73-4E5C-B6A0-F0578763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409575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6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2CCB80-A193-4FF6-9E9F-2E71A147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44196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决议失源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9B492E-CB92-494A-89F2-821DE8A0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523875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结论难回到原话证据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59B40D-582C-483F-AF26-63D22F40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924675"/>
            <a:ext cx="13687425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1D425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2FD2ED-CE34-4709-AE09-74E3EA9F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19925"/>
            <a:ext cx="1314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目标：把“流水账”变成「议题—观点—证据—结论—行动」的动态结构。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0A1C97-1722-4986-AEA1-70247770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72425"/>
            <a:ext cx="1379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F915F6-6036-4A43-9FA1-33A78D26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867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会脉 · AI 软件赛道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3A32E3-FBE2-46F9-8E0D-D520F52F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08672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AIC-2026-48412786</a:t>
            </a:r>
          </a:p>
        </p:txBody>
      </p:sp>
    </p:spTree>
    <p:extLst>
      <p:ext uri="{BB962C8B-B14F-4D97-AF65-F5344CB8AC3E}">
        <p14:creationId xmlns:p14="http://schemas.microsoft.com/office/powerpoint/2010/main" val="1577927375"/>
      </p:ext>
    </p:extLst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50"/>
                            </p:stCondLst>
                            <p:childTnLst>
                              <p:animEffect transition="in" filter="fade">
                                <p:cBhvr>
                                  <p:cTn id="5" dur="46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>
                            <p:stCondLst>
                              <p:cond delay="450"/>
                            </p:stCondLst>
                            <p:childTnLst>
                              <p:animEffect transition="in" filter="fade">
                                <p:cBhvr>
                                  <p:cTn id="7" dur="46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animEffect transition="in" filter="fade">
                                <p:cBhvr>
                                  <p:cTn id="9" dur="46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2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0C915E-752A-46E2-A946-A167DAC567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7686029364d55"/>
          <a:srcRect xmlns:a="http://schemas.openxmlformats.org/drawingml/2006/main" l="0" t="1195" r="0" b="1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CCB04-D28E-4A5C-A245-22D73B87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E">
                  <a:alpha val="94000"/>
                </a:srgbClr>
              </a:gs>
              <a:gs pos="50000">
                <a:srgbClr val="0C111B">
                  <a:alpha val="82000"/>
                </a:srgbClr>
              </a:gs>
              <a:gs pos="100000">
                <a:srgbClr val="0C111B">
                  <a:alpha val="86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F1AA8-5776-4B76-BA61-C8A9B75D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76625"/>
            <a:ext cx="8572500" cy="46672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79CF">
                  <a:alpha val="18000"/>
                </a:srgbClr>
              </a:gs>
              <a:gs pos="72000">
                <a:srgbClr val="1679C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07804-F6AA-4106-A765-9D1A0F71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E2E57-4786-4A51-8987-CF1ADF51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41C90-E544-4AE4-9CA8-027A92AE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B0C74-D23C-48C7-BE2D-1F5CBCC0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DE0809-2353-45BB-AB40-FBF564D8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C1A81-FC08-4564-89A6-C3127CFE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CE1FB-5967-4FFE-AB96-6D891D63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C2241C-785C-47B1-B711-56D94750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57C7C-A7DF-4B44-BD72-5F80F5E1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357F75-3FDE-4AE8-868A-34E59FC8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A6C34F-0C39-4F01-89BB-B779C414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21C49E-8BEC-4151-9C13-F997C9A9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67125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4CAA97-2C79-42D2-B193-D5887B32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FE1EF3-CED4-4A80-9381-AFF4B750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57875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25DC86-5600-4D2B-B7B6-84474BD9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5325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1CC17-FFC5-4AA3-A510-CDAE8B61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48625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757793-0554-49AF-AF82-0CCAAB83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2DC491-12D7-4AD9-B249-6E57326A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产品一句话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738E96-F792-4318-BBE0-F2AC1E4D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6195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03 / 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785205-4417-4873-A552-8E843334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6775"/>
            <a:ext cx="13668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让发言实时落图，让结论有据可查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FFF5AC-631C-4EA4-89A9-71586192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38325"/>
            <a:ext cx="13144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从输入、理解到图谱同步，形成可编辑的会议工作台。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62DDB5-58FA-4066-B4E2-5D497B54D5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db84c22b64c5b"/>
          <a:srcRect xmlns:a="http://schemas.openxmlformats.org/drawingml/2006/main" l="0" t="916" r="0" b="9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2381250"/>
            <a:ext cx="6429375" cy="461962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672E24-1FC4-4CF3-8A4E-12DCECBC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6562725"/>
            <a:ext cx="6191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103339-5CC4-4956-BEAC-9CF2A19D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619875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产品视觉示意（真实界面见后续页面）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ED1574-9733-45AC-B7DB-387BC763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8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BFD94F-07B4-47FA-BAEE-B362CC20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07121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0712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7121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90D9D0-A8B1-4A81-B75A-953846B6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14625"/>
            <a:ext cx="5238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发言输入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30C3B3-B969-49DD-9CB5-7272162D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48025"/>
            <a:ext cx="5429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本地 ASR 或手动文本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A2F37B-D3BF-476C-BB67-B36E3AEF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D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6846BF-B494-4B39-8BB5-F61580C8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07121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0712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7121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256D53-2D99-481A-9832-5DA329FE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86225"/>
            <a:ext cx="5238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双智能体解析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ECC803-6C79-4F1D-8FD4-BB42A909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9625"/>
            <a:ext cx="5429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提炼结构，再同步图谱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3829A6-B152-4A7C-B382-5ACA9E0C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3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E1D7C5-8895-444C-91FA-61571425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07121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0712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7121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6AFF4C-C25C-4133-A8FF-C5A48B46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57825"/>
            <a:ext cx="5238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可追溯协作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EF8483-29D6-41AA-91BB-4654101C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91225"/>
            <a:ext cx="5429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图谱编辑、原话定位、纪要导出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5EF6D4-A1BE-4BD6-904D-5ABFE419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72425"/>
            <a:ext cx="1379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903305-3829-4DB2-978B-04BDE8FC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867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会脉 · AI 软件赛道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DE1D18-C131-44AB-84E0-6D4B0DC5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08672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AIC-2026-48412786</a:t>
            </a:r>
          </a:p>
        </p:txBody>
      </p:sp>
    </p:spTree>
    <p:extLst>
      <p:ext uri="{BB962C8B-B14F-4D97-AF65-F5344CB8AC3E}">
        <p14:creationId xmlns:p14="http://schemas.microsoft.com/office/powerpoint/2010/main" val="1480881301"/>
      </p:ext>
    </p:extLst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0"/>
                            </p:stCondLst>
                            <p:childTnLst>
                              <p:animEffect transition="in" filter="fade">
                                <p:cBhvr>
                                  <p:cTn id="5" dur="460" fill="hold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>
                            <p:stCondLst>
                              <p:cond delay="400"/>
                            </p:stCondLst>
                            <p:childTnLst>
                              <p:animEffect transition="in" filter="fade">
                                <p:cBhvr>
                                  <p:cTn id="7" dur="46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animEffect transition="in" filter="fade">
                                <p:cBhvr>
                                  <p:cTn id="9" dur="460" fill="hold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2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278A2E-363E-4F48-8BCE-353AAF7373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46b5568c6c45a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EF07D-7961-46FC-9DCF-95521DE7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01F">
                  <a:alpha val="95000"/>
                </a:srgbClr>
              </a:gs>
              <a:gs pos="39000">
                <a:srgbClr val="071424">
                  <a:alpha val="88000"/>
                </a:srgbClr>
              </a:gs>
              <a:gs pos="100000">
                <a:srgbClr val="071424">
                  <a:alpha val="18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B14B5-860E-4B85-A585-EEFC8465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79553-99C0-4B45-A87B-A9912BFD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核心演示 · 发言实时落图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AF9C8-A37D-4DD5-9632-4CDB0847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6195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04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DBA2D-26C7-4EED-9F64-4435235F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6775"/>
            <a:ext cx="13668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一句发言，如何变成会议脉络？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0C6AE-D3EA-480A-A01C-D57FA1C7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38325"/>
            <a:ext cx="13144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第一拍：原话进入系统。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C72ED-DD2E-4C2E-8CDA-66A76913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6286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5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5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“我建议先做小范围试点，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5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验证效果后再全面推广。”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AD3CA-D3D2-4523-93FC-1CA16AEA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0175"/>
            <a:ext cx="5791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8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F2296-5E8D-44FF-A387-62899CFC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76875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成员 A  ·  14:23:08  ·  原话 #U-018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40EE43-D7C6-4D8E-9CDA-8D9900E6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61987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语音 / 文本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5AC4E2-5B72-44A2-B674-D84EB806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572250"/>
            <a:ext cx="800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35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35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5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70543-51E5-4A18-B9FB-05CE456A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619875"/>
            <a:ext cx="2943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保留来源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6144E-A488-4580-B101-FF50335C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72425"/>
            <a:ext cx="1379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063166-5AE8-44B0-910F-28E60AB3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867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会脉 · AI 软件赛道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E8C1D6-B958-47D0-8BF9-F66AABC1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08672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AIC-2026-48412786</a:t>
            </a:r>
          </a:p>
        </p:txBody>
      </p:sp>
    </p:spTree>
    <p:extLst>
      <p:ext uri="{BB962C8B-B14F-4D97-AF65-F5344CB8AC3E}">
        <p14:creationId xmlns:p14="http://schemas.microsoft.com/office/powerpoint/2010/main" val="1271882906"/>
      </p:ext>
    </p:extLst>
  </p:cSld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0"/>
                            </p:stCondLst>
                            <p:childTnLst>
                              <p:animEffect transition="in" filter="fade">
                                <p:cBhvr>
                                  <p:cTn id="5" dur="46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>
                            <p:stCondLst>
                              <p:cond delay="750"/>
                            </p:stCondLst>
                            <p:childTnLst>
                              <p:animEffect transition="in" filter="fade">
                                <p:cBhvr>
                                  <p:cTn id="7" dur="46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50"/>
                            </p:stCondLst>
                            <p:childTnLst>
                              <p:animEffect transition="in" filter="fade">
                                <p:cBhvr>
                                  <p:cTn id="9" dur="46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2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C1E910-997D-49FD-B374-09EBCCEA8C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57491ced94eef"/>
          <a:srcRect xmlns:a="http://schemas.openxmlformats.org/drawingml/2006/main" l="0" t="1195" r="0" b="1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5F2CA-45B2-464B-9D78-B51C55B6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E">
                  <a:alpha val="94000"/>
                </a:srgbClr>
              </a:gs>
              <a:gs pos="50000">
                <a:srgbClr val="0C111B">
                  <a:alpha val="82000"/>
                </a:srgbClr>
              </a:gs>
              <a:gs pos="100000">
                <a:srgbClr val="0C111B">
                  <a:alpha val="86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C51C1-C8B4-460A-8828-8BCA475A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76625"/>
            <a:ext cx="8572500" cy="46672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79CF">
                  <a:alpha val="18000"/>
                </a:srgbClr>
              </a:gs>
              <a:gs pos="72000">
                <a:srgbClr val="1679C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EC0E0-EC3D-42B5-8E8A-7FC05C87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0B226-FE8E-420D-94D0-525D608E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0281E-CEAC-442C-9FF9-334AF6B4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5E432-36FB-4B81-9FA4-CDCC6288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05318-D44D-4E7A-8259-D174FC01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FB89B6-BA0A-4462-83E2-D6CF31BD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C9F4E-A505-46ED-9A07-F4BDE44E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EDB81-E4C5-4D42-8D4A-66006FC7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3A897-0028-41E8-80E5-8F84DF7A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2AAB5-3858-4C0B-9C27-89B0B50C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062B0-90D1-41F5-94D6-6AEFCB15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6B1E1-5CB1-4866-A9CB-147F6FFD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67125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032BB0-CEBD-435C-B53D-7FFA1660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65D185-B2D8-4A00-A4D2-E9551DE7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57875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24BAE7-7953-4D2E-9EBB-112E676A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5325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BC3B47-F839-48F7-89C6-634E2F65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48625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5B52E3-6C44-4199-8D04-D31DD532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4C36E3-0A38-47DD-B86F-DCFDFC30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核心演示 · 发言实时落图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834776-E5EE-4A22-ADE2-161D1B80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6195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05 / 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61D5A9-293C-44F3-B078-C2C0E1CA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6775"/>
            <a:ext cx="13668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一句发言，如何变成会议脉络？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5ECB85-543A-4537-83BD-E1B78B2D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38325"/>
            <a:ext cx="13144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第二拍：Analyzer Agent 将话语变成结构化语义。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88C5C4-B14B-4A03-909D-087A21B0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3792200" cy="4686300"/>
          </a:xfrm>
          <a:prstGeom xmlns:a="http://schemas.openxmlformats.org/drawingml/2006/main" prst="roundRect">
            <a:avLst>
              <a:gd name="adj" fmla="val 4675"/>
            </a:avLst>
          </a:prstGeom>
          <a:solidFill xmlns:a="http://schemas.openxmlformats.org/drawingml/2006/main">
            <a:srgbClr val="0B1A2B"/>
          </a:solidFill>
          <a:ln xmlns:a="http://schemas.openxmlformats.org/drawingml/2006/main" w="19050">
            <a:solidFill>
              <a:srgbClr val="1D425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0DD98A-2C98-4513-A6D7-A6D12FC7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943225"/>
            <a:ext cx="1571625" cy="4286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378DF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E678E-8357-41D9-B061-AC1BF9BA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943225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rPr>
              <a:t>实时会议流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36636D-C2DF-45B9-9D46-204790BF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05225"/>
            <a:ext cx="4686300" cy="24003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378D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BE5A3D-43A9-401E-99B3-E80A8BA6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95725"/>
            <a:ext cx="3933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rPr>
              <a:t>原始发言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B4B4BC-F209-4A68-A5F4-E45EBB5E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24375"/>
            <a:ext cx="39338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“先做小范围试点，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验证后再推广。”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69C7F1-78BC-4210-A6F7-74D57B12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24375"/>
            <a:ext cx="109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125"/>
          </a:bodyPr>
          <a:lstStyle xmlns:a="http://schemas.openxmlformats.org/drawingml/2006/main">
            <a:defPPr algn="ctr">
              <a:defRPr sz="435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435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35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ED73A5-7FEC-46E9-B72B-66D8FC35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33750"/>
            <a:ext cx="643890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3DD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30CDE8-D300-4815-ABE7-372843E9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90925"/>
            <a:ext cx="55530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MeetingSummary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285DE9-96EA-48CA-A56E-0ACE304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229100"/>
            <a:ext cx="57435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763880-EA2F-4C31-82D1-0CD1F552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419600"/>
            <a:ext cx="54578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议题   ·  推广路径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1E0C2E-F5AC-4C2B-A513-873DB8DE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05375"/>
            <a:ext cx="54578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观点   ·  先试点，再全面推广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3B6CCD-7584-44F8-A14F-AF993288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419725"/>
            <a:ext cx="54578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依据   ·  需先验证效果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ECE795-5620-4505-8B96-BDF54A31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934075"/>
            <a:ext cx="545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来源   ·  #U-018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91EDB4-19FD-4182-9891-33F96AB6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72425"/>
            <a:ext cx="1379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3B39D1-8A67-41D0-A927-D4A611EA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867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会脉 · AI 软件赛道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3920D1-E152-41CD-8B26-9FFC3330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08672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AIC-2026-48412786</a:t>
            </a:r>
          </a:p>
        </p:txBody>
      </p:sp>
    </p:spTree>
    <p:extLst>
      <p:ext uri="{BB962C8B-B14F-4D97-AF65-F5344CB8AC3E}">
        <p14:creationId xmlns:p14="http://schemas.microsoft.com/office/powerpoint/2010/main" val="1810549487"/>
      </p:ext>
    </p:extLst>
  </p:cSld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0"/>
                            </p:stCondLst>
                            <p:childTnLst>
                              <p:animEffect transition="in" filter="fade">
                                <p:cBhvr>
                                  <p:cTn id="5" dur="460" fill="hold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>
                            <p:stCondLst>
                              <p:cond delay="700"/>
                            </p:stCondLst>
                            <p:childTnLst>
                              <p:animEffect transition="in" filter="fade">
                                <p:cBhvr>
                                  <p:cTn id="7" dur="46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10"/>
                            </p:stCondLst>
                            <p:childTnLst>
                              <p:animEffect transition="in" filter="fade">
                                <p:cBhvr>
                                  <p:cTn id="9" dur="46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300"/>
                            </p:stCondLst>
                            <p:childTnLst>
                              <p:animEffect transition="in" filter="fade">
                                <p:cBhvr>
                                  <p:cTn id="11" dur="460" fill="hold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90"/>
                            </p:stCondLst>
                            <p:childTnLst>
                              <p:animEffect transition="in" filter="fade">
                                <p:cBhvr>
                                  <p:cTn id="13" dur="460" fill="hold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2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5DEE71F-9B5A-4555-9423-A33B6A2D31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6f24db00b4e32"/>
          <a:srcRect xmlns:a="http://schemas.openxmlformats.org/drawingml/2006/main" l="0" t="1195" r="0" b="1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07DA7-E71B-48DF-BF66-143A729E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E">
                  <a:alpha val="94000"/>
                </a:srgbClr>
              </a:gs>
              <a:gs pos="50000">
                <a:srgbClr val="0C111B">
                  <a:alpha val="82000"/>
                </a:srgbClr>
              </a:gs>
              <a:gs pos="100000">
                <a:srgbClr val="0C111B">
                  <a:alpha val="86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6A1A0-E1E1-4B55-BCE0-DA05D700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76625"/>
            <a:ext cx="8572500" cy="46672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79CF">
                  <a:alpha val="18000"/>
                </a:srgbClr>
              </a:gs>
              <a:gs pos="72000">
                <a:srgbClr val="1679C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248FE-81B9-40E9-BF78-556FB7B0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2D44F-1295-4D7F-84C4-0E5A60C9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748A45-559D-4120-92FA-011D4934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6CD98-69F4-49F1-B969-D74F6885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D06D5-51BD-4872-9DEB-9CEB3A52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92A06-7C32-4AE7-9C3A-2F5DB382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3C2F0-69D8-459C-A524-434ECEEE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B2238-58C8-46AA-96B6-947689E0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2EA8C-91E7-473C-BFCF-6B0EBA39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1FF63-EEB4-4E59-A822-A502C48C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FB9271-00B1-47C9-BD46-C57F5F88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1C48A9-ACA1-4AAF-AD10-9C46DE03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67125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4EC20F-C992-4122-9258-DC78B123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91A02E-E5C8-4765-970E-40920D4D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57875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F3F0EC-D87F-4686-B07A-133FE835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5325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03DF3D-FDCB-42EC-8143-CEFCA9D8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48625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5B5DF3-1BFD-41C0-9141-ABC2E9DC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EC8587-EAC7-4CDD-B4B6-BEADEA0F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核心演示 · 发言实时落图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145807-EC44-4631-AD00-6E762EF6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6195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06 / 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966D71-FD1E-4579-92C4-005606AE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6775"/>
            <a:ext cx="13668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一句发言，如何变成会议脉络？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2DF199-55A0-44CE-B8C7-BF4C75AD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38325"/>
            <a:ext cx="13144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第三拍：Syncer Agent 生成更新操作，图谱立即出现新脉络。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ECE2CD-A0C9-4A2A-A5EE-3565DE42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3792200" cy="4686300"/>
          </a:xfrm>
          <a:prstGeom xmlns:a="http://schemas.openxmlformats.org/drawingml/2006/main" prst="roundRect">
            <a:avLst>
              <a:gd name="adj" fmla="val 4675"/>
            </a:avLst>
          </a:prstGeom>
          <a:solidFill xmlns:a="http://schemas.openxmlformats.org/drawingml/2006/main">
            <a:srgbClr val="0B1A2B"/>
          </a:solidFill>
          <a:ln xmlns:a="http://schemas.openxmlformats.org/drawingml/2006/main" w="19050">
            <a:solidFill>
              <a:srgbClr val="1D425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55AD14-FD8A-44F9-BB30-B4A26BF7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943225"/>
            <a:ext cx="1571625" cy="4286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378DF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FB0741-C5B7-42B3-B98D-B5A7ED73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943225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rPr>
              <a:t>实时会议流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1507B4-91CA-4023-8658-A74BCEC4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361950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3DD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112CB9-8FDB-447C-B8C2-96A21B76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905250"/>
            <a:ext cx="3048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MeetingSummary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EEC25F-C661-41C0-86DD-4E5D126B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52950"/>
            <a:ext cx="30956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议题：推广路径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观点：先试点，再推广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依据：验证效果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DC2A01-5FF6-4AA2-B9E9-DA13581C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148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125"/>
          </a:bodyPr>
          <a:lstStyle xmlns:a="http://schemas.openxmlformats.org/drawingml/2006/main">
            <a:defPPr algn="ctr">
              <a:defRPr sz="4350" b="1">
                <a:solidFill>
                  <a:srgbClr val="45D3A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4350" b="1">
                <a:solidFill>
                  <a:srgbClr val="45D3A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350" b="1">
                <a:solidFill>
                  <a:srgbClr val="45D3AB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C1C0F4-C9D9-49BF-B415-F6376209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14750"/>
            <a:ext cx="346710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45D3A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A0791B-0B48-417D-B79C-B78D4773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905250"/>
            <a:ext cx="285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45D3A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5D3A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45D3AB"/>
                </a:solidFill>
                <a:latin typeface="Hiragino Sans GB"/>
                <a:ea typeface="Hiragino Sans GB"/>
                <a:cs typeface="Hiragino Sans GB"/>
              </a:rPr>
              <a:t>GraphUpdateOp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EE0EAF-D14E-483C-B243-C8E7DB5A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552950"/>
            <a:ext cx="295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add 观点节点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link 议题 → 观点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link 观点 → 原话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C18CD6-87DC-4CA5-88F3-298FB0A8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148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125"/>
          </a:bodyPr>
          <a:lstStyle xmlns:a="http://schemas.openxmlformats.org/drawingml/2006/main">
            <a:defPPr algn="ctr">
              <a:defRPr sz="435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435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35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489736-61D5-437C-AD66-97F3C2E5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533775"/>
            <a:ext cx="31051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378DF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8A6EA0-D157-4FA4-8B4B-1407AFA8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819525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8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D25C82-2869-498E-B20A-B3145D9D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648075"/>
            <a:ext cx="2390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推广路径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0D7418-87FA-44EB-B082-8CCCA12A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010025"/>
            <a:ext cx="2390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议题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A875F6-DBF5-44C0-B604-B45C2F67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133975"/>
            <a:ext cx="31051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45D3A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EF6A9E-7A57-42B5-8061-CA89B605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5419725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3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AC3B4E-AEA8-4A16-BF0C-C9148D53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5248275"/>
            <a:ext cx="2390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先试点再推广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8E2618-F30B-433C-96A3-30DDDF75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5610225"/>
            <a:ext cx="2390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观点 · #U-018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CA3666-A62B-458A-A85D-873A7DAC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400550"/>
            <a:ext cx="381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B5B456-57CB-47D1-A2A8-5E315A96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6482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支持／推进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7261F13-0DE7-4D09-AB42-BE8B9659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496050"/>
            <a:ext cx="12192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211ED0E-25BA-4CE9-8E53-108E1CE5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543675"/>
            <a:ext cx="1200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演示节奏：发言 → 摘要 → 操作 → 图谱；点选节点可回到原话。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268573-3703-4190-B0C4-C3231FBC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72425"/>
            <a:ext cx="1379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65D2A1-BBBD-42CD-8253-10E83E71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867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会脉 · AI 软件赛道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1B5CA5C-22A0-44C2-A8F3-B51D25DF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08672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AIC-2026-48412786</a:t>
            </a:r>
          </a:p>
        </p:txBody>
      </p:sp>
    </p:spTree>
    <p:extLst>
      <p:ext uri="{BB962C8B-B14F-4D97-AF65-F5344CB8AC3E}">
        <p14:creationId xmlns:p14="http://schemas.microsoft.com/office/powerpoint/2010/main" val="787987741"/>
      </p:ext>
    </p:extLst>
  </p:cSld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0"/>
                            </p:stCondLst>
                            <p:childTnLst>
                              <p:animEffect transition="in" filter="fade">
                                <p:cBhvr>
                                  <p:cTn id="5" dur="460" fill="hold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>
                            <p:stCondLst>
                              <p:cond delay="720"/>
                            </p:stCondLst>
                            <p:childTnLst>
                              <p:animEffect transition="in" filter="fade">
                                <p:cBhvr>
                                  <p:cTn id="7" dur="46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450"/>
                            </p:stCondLst>
                            <p:childTnLst>
                              <p:animEffect transition="in" filter="fade">
                                <p:cBhvr>
                                  <p:cTn id="9" dur="460" fill="hold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750"/>
                            </p:stCondLst>
                            <p:childTnLst>
                              <p:animEffect transition="in" filter="fade">
                                <p:cBhvr>
                                  <p:cTn id="11" dur="460" fill="hold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2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BF95DA-8B75-428E-98AF-7C7B39B1CF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a06c8128e43a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2B9E8-C86C-4C7E-A4CF-503807B7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01F">
                  <a:alpha val="95000"/>
                </a:srgbClr>
              </a:gs>
              <a:gs pos="39000">
                <a:srgbClr val="071424">
                  <a:alpha val="88000"/>
                </a:srgbClr>
              </a:gs>
              <a:gs pos="100000">
                <a:srgbClr val="071424">
                  <a:alpha val="18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08DA1-8AD4-4B82-9EE5-89F5FB0F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26A18-5D90-4751-BE59-D5BA3121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双智能体架构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745CF-4EF9-4FC7-8772-381F9D70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6195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07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85D94-6CE6-413F-BD7F-C7DDC97F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6775"/>
            <a:ext cx="13668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双智能体，让理解与更新各司其职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E7A4E-67BA-4F4E-BA15-AA124DDE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38325"/>
            <a:ext cx="13144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一份结构化摘要，连接语义理解与图谱维护。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67767-55A5-4126-90D5-CEC1B0A9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rPr>
              <a:t>01  ANALYZER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A3D15-FA54-4E5F-816E-EA6C3A9C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6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6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读懂发言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12BB3-2C7D-49F7-8177-A4C071B8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6000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抽取议题、观点、证据、结论、行动与分歧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0A62A-8FD9-42AA-9733-5F9E32FF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5553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54E7C5-9F1B-4484-B1D3-16A0B3BF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149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MeetingSummary  →  AgentState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885B5-E0CC-42D8-AC27-A14840D3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5792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45D3A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45D3A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45D3AB"/>
                </a:solidFill>
                <a:latin typeface="Hiragino Sans GB"/>
                <a:ea typeface="Hiragino Sans GB"/>
                <a:cs typeface="Hiragino Sans GB"/>
              </a:rPr>
              <a:t>02  SYNCER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424E97-62A6-4741-88C4-E01712DF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753225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读取既有图谱，生成并校验更新操作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AC4C82-24F8-4F5A-9800-9346B1E8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72425"/>
            <a:ext cx="1379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7BE1BE-3A96-450D-9149-7F09D151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867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会脉 · AI 软件赛道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C8E771-9847-491A-8150-E10E0F65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08672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AIC-2026-48412786</a:t>
            </a:r>
          </a:p>
        </p:txBody>
      </p:sp>
    </p:spTree>
    <p:extLst>
      <p:ext uri="{BB962C8B-B14F-4D97-AF65-F5344CB8AC3E}">
        <p14:creationId xmlns:p14="http://schemas.microsoft.com/office/powerpoint/2010/main" val="91949184"/>
      </p:ext>
    </p:extLst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"/>
                            </p:stCondLst>
                            <p:childTnLst>
                              <p:animEffect transition="in" filter="fade">
                                <p:cBhvr>
                                  <p:cTn id="5" dur="46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>
                            <p:stCondLst>
                              <p:cond delay="430"/>
                            </p:stCondLst>
                            <p:childTnLst>
                              <p:animEffect transition="in" filter="fade">
                                <p:cBhvr>
                                  <p:cTn id="7" dur="46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60"/>
                            </p:stCondLst>
                            <p:childTnLst>
                              <p:animEffect transition="in" filter="fade">
                                <p:cBhvr>
                                  <p:cTn id="9" dur="46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50"/>
                            </p:stCondLst>
                            <p:childTnLst>
                              <p:animEffect transition="in" filter="fade">
                                <p:cBhvr>
                                  <p:cTn id="11" dur="46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2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F365A7-FE6B-4C7D-8C5C-AEEF5E3E0D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ae05a7075416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D9E11-81DD-4337-957E-1DFA3920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01F">
                  <a:alpha val="95000"/>
                </a:srgbClr>
              </a:gs>
              <a:gs pos="39000">
                <a:srgbClr val="071424">
                  <a:alpha val="88000"/>
                </a:srgbClr>
              </a:gs>
              <a:gs pos="100000">
                <a:srgbClr val="071424">
                  <a:alpha val="18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25DBC-A9F8-4339-BC98-0A18CCBF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39D93-21C1-4AE0-9AE2-9A4D597D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核心算法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0F740-CC68-4F21-B4D1-0A027879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6195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08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DE185-2E63-4292-8EA7-A9B63E28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6775"/>
            <a:ext cx="13668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算法链路：从语义到安全更新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5F07D-2619-4173-9C40-0BACFE8A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38325"/>
            <a:ext cx="13144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每一条边都有类型；每一次改图都有约束。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C1995-833C-4905-A39F-47BB1C34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809875"/>
            <a:ext cx="80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5B76C0-9C44-46FC-96BB-A71F291E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09875"/>
            <a:ext cx="247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语义抽取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13B0E-601D-4A27-8D3B-266DD39A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4797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议题 · 观点 · 证据 · 行动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4F647-CE11-43A2-AC6C-C3FD364B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24250"/>
            <a:ext cx="788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D867A6-A3C1-485A-9085-07C27620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76675"/>
            <a:ext cx="80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073A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07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F073A6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52F13F-B11C-487E-9656-E1716D0C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76675"/>
            <a:ext cx="247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关系判定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C1993-464B-4328-804B-A75F8584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1477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支持 · 反对 · 重复 · 替代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90E57E-DDEC-4B07-A2D5-3B564FCF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91050"/>
            <a:ext cx="788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0ACF6E-8509-456E-8493-EF6562A8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943475"/>
            <a:ext cx="80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E83D69-1CDB-48BD-93FA-254925FB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43475"/>
            <a:ext cx="247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更新校验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583876-8D35-4749-80C7-646B9908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8157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GraphUpdateOp 与来源引用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52FADB-64BC-4FB4-9972-7A659DA2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57850"/>
            <a:ext cx="788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61BDE4-54A9-49B0-957A-2B1E2BBB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10275"/>
            <a:ext cx="80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45D3A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45D3A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45D3AB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A981FB-E8D4-473A-A926-BAC9C6FE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10275"/>
            <a:ext cx="247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人工优先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CDFA12-7B6E-4996-BF2F-93EFC651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04837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编辑与锁定判断被保留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1F603B-4AE3-46AB-A64F-8F7925A0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724650"/>
            <a:ext cx="788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806074-0D1B-467E-B5D4-BD40B0F5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7239000"/>
            <a:ext cx="1257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8B66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8B6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F8B665"/>
                </a:solidFill>
                <a:latin typeface="Hiragino Sans GB"/>
                <a:ea typeface="Hiragino Sans GB"/>
                <a:cs typeface="Hiragino Sans GB"/>
              </a:rPr>
              <a:t>当前 MockLLM 为规则演示；真实模型质量需单独评测。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86D0E2-8637-4FF3-8C76-E902D30C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72425"/>
            <a:ext cx="1379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77CAB6-A9E1-44B6-AC9E-76BB158B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867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会脉 · AI 软件赛道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3FC91C-7FDB-4EC0-A2BF-F873EC67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08672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AIC-2026-48412786</a:t>
            </a:r>
          </a:p>
        </p:txBody>
      </p:sp>
    </p:spTree>
    <p:extLst>
      <p:ext uri="{BB962C8B-B14F-4D97-AF65-F5344CB8AC3E}">
        <p14:creationId xmlns:p14="http://schemas.microsoft.com/office/powerpoint/2010/main" val="151021893"/>
      </p:ext>
    </p:extLst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"/>
                            </p:stCondLst>
                            <p:childTnLst>
                              <p:animEffect transition="in" filter="fade">
                                <p:cBhvr>
                                  <p:cTn id="5" dur="46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>
                            <p:stCondLst>
                              <p:cond delay="430"/>
                            </p:stCondLst>
                            <p:childTnLst>
                              <p:animEffect transition="in" filter="fade">
                                <p:cBhvr>
                                  <p:cTn id="7" dur="46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40"/>
                            </p:stCondLst>
                            <p:childTnLst>
                              <p:animEffect transition="in" filter="fade">
                                <p:cBhvr>
                                  <p:cTn id="9" dur="46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50"/>
                            </p:stCondLst>
                            <p:childTnLst>
                              <p:animEffect transition="in" filter="fade">
                                <p:cBhvr>
                                  <p:cTn id="11" dur="46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2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03C2F4-D9EC-48D1-B35F-28524FC466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6dfbd74e4e421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20D63-8753-4B64-AD1F-7F0B26FC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01F">
                  <a:alpha val="95000"/>
                </a:srgbClr>
              </a:gs>
              <a:gs pos="39000">
                <a:srgbClr val="071424">
                  <a:alpha val="88000"/>
                </a:srgbClr>
              </a:gs>
              <a:gs pos="100000">
                <a:srgbClr val="071424">
                  <a:alpha val="18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EF2A9-5431-4C90-9334-9D9C2F92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92ACA-DE01-4972-AA6C-5C2FFD51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双仓存储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47825-9CEF-4A64-BAA4-DC2818E3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6195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09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65051-B7D8-4A64-985A-D50B83DA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6775"/>
            <a:ext cx="13668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一个结论，能回到哪句原话？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B9CF8-80EE-49A2-B153-8C1A9081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38325"/>
            <a:ext cx="13144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双仓保留“推导结果”和“原始证据”，由节点引用连接。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12105D-C3D3-4E00-80AE-D741C1EC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538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rPr>
              <a:t>STORE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A041B-43CC-4E3D-AB55-AAB908DA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538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3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可编辑关系图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D9DF6-0824-40FB-B8BC-71C1C021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391025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议题 / 观点 / 证据 / 结论 / 行动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750ED-56E3-4070-B66F-877DF983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05450"/>
            <a:ext cx="557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2AD8CC-804B-42E0-B73C-4CD0CEEC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9750"/>
            <a:ext cx="581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metadata_refs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AC695B-F640-4B75-AB78-2B55E6DC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38875"/>
            <a:ext cx="5381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45D3A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5D3A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45D3AB"/>
                </a:solidFill>
                <a:latin typeface="Hiragino Sans GB"/>
                <a:ea typeface="Hiragino Sans GB"/>
                <a:cs typeface="Hiragino Sans GB"/>
              </a:rPr>
              <a:t>STORE 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72151D-A847-4AF1-A3A2-862628E9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9607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原始发言、说话人、时间与来源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A2E927-AA9A-40CB-9695-39566CF6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72425"/>
            <a:ext cx="1379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9F41E9-84BE-48D3-BB5A-101D9839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867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会脉 · AI 软件赛道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17A9E8-2E6F-460B-934E-2454AFC2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08672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AIC-2026-48412786</a:t>
            </a:r>
          </a:p>
        </p:txBody>
      </p:sp>
    </p:spTree>
    <p:extLst>
      <p:ext uri="{BB962C8B-B14F-4D97-AF65-F5344CB8AC3E}">
        <p14:creationId xmlns:p14="http://schemas.microsoft.com/office/powerpoint/2010/main" val="1510047916"/>
      </p:ext>
    </p:extLst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"/>
                            </p:stCondLst>
                            <p:childTnLst>
                              <p:animEffect transition="in" filter="fade">
                                <p:cBhvr>
                                  <p:cTn id="5" dur="46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>
                            <p:stCondLst>
                              <p:cond delay="600"/>
                            </p:stCondLst>
                            <p:childTnLst>
                              <p:animEffect transition="in" filter="fade">
                                <p:cBhvr>
                                  <p:cTn id="7" dur="46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70"/>
                            </p:stCondLst>
                            <p:childTnLst>
                              <p:animEffect transition="in" filter="fade">
                                <p:cBhvr>
                                  <p:cTn id="9" dur="46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2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506560-4C54-4078-8202-222B62AB9E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98ba3902143d0"/>
          <a:srcRect xmlns:a="http://schemas.openxmlformats.org/drawingml/2006/main" l="0" t="1195" r="0" b="1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71671-D1FC-4CBB-96B5-BBE3D6A1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E">
                  <a:alpha val="94000"/>
                </a:srgbClr>
              </a:gs>
              <a:gs pos="50000">
                <a:srgbClr val="0C111B">
                  <a:alpha val="82000"/>
                </a:srgbClr>
              </a:gs>
              <a:gs pos="100000">
                <a:srgbClr val="0C111B">
                  <a:alpha val="86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5E586-E86A-41D3-AA93-30922CE9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76625"/>
            <a:ext cx="8572500" cy="46672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79CF">
                  <a:alpha val="18000"/>
                </a:srgbClr>
              </a:gs>
              <a:gs pos="72000">
                <a:srgbClr val="1679C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F3C7C-2162-4114-B5C8-1E8CCE7C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9C882-157B-4BB8-9379-C26FC0AB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本地 DEMO 实拍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6FA98-6521-494C-9AAF-A56B9558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6195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10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E1425-6B7F-49B4-891D-38D0BD70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6775"/>
            <a:ext cx="13668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这不是概念图：本地工作台已能展示会议脉络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ABE3B-7A6F-4832-8CAF-FC10456E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38325"/>
            <a:ext cx="13144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实际页面覆盖图谱、侧边辅助区与语音输入入口。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0117D2-D3F2-4249-96E3-2422410B16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fa90ec5edc4aaa"/>
          <a:srcRect xmlns:a="http://schemas.openxmlformats.org/drawingml/2006/main" l="0" t="21142" r="0" b="211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2647950"/>
            <a:ext cx="13677900" cy="49339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63D87A-BF74-4B15-B71D-A779D1FC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15175"/>
            <a:ext cx="83343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F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698911-1956-4830-9A41-F49040AB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172325"/>
            <a:ext cx="796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本地 Demo 截图 · 产品审阅记录 2026-10-06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8478A0-E454-42D9-9CF5-6A1861B0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72425"/>
            <a:ext cx="1379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EC9534-A5F4-46C3-8B8B-03A0367D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867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会脉 · AI 软件赛道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793172-4B0A-4080-88C2-C9773381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08672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AIC-2026-48412786</a:t>
            </a:r>
          </a:p>
        </p:txBody>
      </p:sp>
    </p:spTree>
    <p:extLst>
      <p:ext uri="{BB962C8B-B14F-4D97-AF65-F5344CB8AC3E}">
        <p14:creationId xmlns:p14="http://schemas.microsoft.com/office/powerpoint/2010/main" val="861831616"/>
      </p:ext>
    </p:extLst>
  </p:cSld>
  <p:transition spd="med">
    <p:fade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2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A7DCB4-6F1D-46C0-AC0D-72C66A86DD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1da1fdfad4554"/>
          <a:srcRect xmlns:a="http://schemas.openxmlformats.org/drawingml/2006/main" l="0" t="1195" r="0" b="1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5CF76-B255-41B4-9A5F-57CAA71E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E">
                  <a:alpha val="94000"/>
                </a:srgbClr>
              </a:gs>
              <a:gs pos="50000">
                <a:srgbClr val="0C111B">
                  <a:alpha val="82000"/>
                </a:srgbClr>
              </a:gs>
              <a:gs pos="100000">
                <a:srgbClr val="0C111B">
                  <a:alpha val="86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4E9F6-8FBB-4D0C-B850-825E7AF1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76625"/>
            <a:ext cx="8572500" cy="46672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79CF">
                  <a:alpha val="18000"/>
                </a:srgbClr>
              </a:gs>
              <a:gs pos="72000">
                <a:srgbClr val="1679C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C7C88-E876-4005-8E50-16376CC5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3996B-1F37-4B9D-9EE1-9C0B1710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CDD81-8D8A-4102-BE26-4D970F8E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515EA-1F36-482F-8CEA-9421F4BB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39C00-0E61-4746-BA88-F9EBB71C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DFCD9A-C1DB-451C-A0BA-053F8FB8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0E9616-E0E1-41CA-A74D-B83ACB10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509A21-B240-48E4-BC78-878AA292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5FEEA-A5C6-49A7-BF8C-4682561F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91EC1-2FA3-43BC-A80E-B5D2A68D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524125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A207E5-DAF4-4D09-8761-E64C5F7F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1FBF9A-900F-4813-926B-C2891F63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67125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C14CDB-D12B-4669-9DBF-7FC30FF2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99B78F-D636-4570-A3B8-27C5A37B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57875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F5747D-9C4C-46CA-A1FF-0AAF4889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5325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D912EF-44B4-4E62-A89E-090D41EB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48625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CD1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01E860-094A-4A07-9D1C-ACD6A8D6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B0F2E7-34C2-4ABE-9064-E50F58C0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核心功能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158586-047C-402F-8FCD-E1E2A35B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6195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11 / 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129150-66DA-474F-85E8-D2AEE1CF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6775"/>
            <a:ext cx="13668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从全局俯瞰，到一条分歧的定位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CA1A99-8394-4D92-A5DD-3800BC4A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38325"/>
            <a:ext cx="13144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关系过滤与议题结构帮助主持人抓住决定性变化。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22950D-5D10-4CFB-8171-C3952F9707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33c165b434297"/>
          <a:srcRect xmlns:a="http://schemas.openxmlformats.org/drawingml/2006/main" l="0" t="11143" r="0" b="11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2590800"/>
            <a:ext cx="10001250" cy="48577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7D0C62-B126-49CC-90C5-1F847671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2924175"/>
            <a:ext cx="323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关系透镜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3D6FCA-27F1-410E-A75E-EDD06E6C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3819525"/>
            <a:ext cx="3209925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支持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反对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重复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替代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12A2D4-13E7-4018-A45B-5CD4E8BD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72200"/>
            <a:ext cx="3152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3897F8-C55A-4620-8C5F-044A48EB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81750"/>
            <a:ext cx="32099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聚焦争点，回到原话。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DA812D-EFBD-48AC-9B06-F2E1DB22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72425"/>
            <a:ext cx="1379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4505E3-B733-41B7-9E4E-1D967595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867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会脉 · AI 软件赛道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D7C078-2713-46F9-98A5-4F639049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08672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AIC-2026-48412786</a:t>
            </a:r>
          </a:p>
        </p:txBody>
      </p:sp>
    </p:spTree>
    <p:extLst>
      <p:ext uri="{BB962C8B-B14F-4D97-AF65-F5344CB8AC3E}">
        <p14:creationId xmlns:p14="http://schemas.microsoft.com/office/powerpoint/2010/main" val="115757279"/>
      </p:ext>
    </p:extLst>
  </p:cSld>
  <p:transition spd="med">
    <p:fade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2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0AECC5-D834-4659-AAB2-A050EF8E04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86a5b55144ac1"/>
          <a:srcRect xmlns:a="http://schemas.openxmlformats.org/drawingml/2006/main" l="0" t="1195" r="0" b="1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B2B70-C941-409D-BC27-15315764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E">
                  <a:alpha val="94000"/>
                </a:srgbClr>
              </a:gs>
              <a:gs pos="50000">
                <a:srgbClr val="0C111B">
                  <a:alpha val="82000"/>
                </a:srgbClr>
              </a:gs>
              <a:gs pos="100000">
                <a:srgbClr val="0C111B">
                  <a:alpha val="86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19D3D-EC31-4F91-88D1-E6FFE07B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76625"/>
            <a:ext cx="8572500" cy="46672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79CF">
                  <a:alpha val="18000"/>
                </a:srgbClr>
              </a:gs>
              <a:gs pos="72000">
                <a:srgbClr val="1679C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F213F-CC1A-4EF6-AA18-D0F37D39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1F4C8-2855-42FF-B08E-D2EDE997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可观测性能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D7740-C417-4F41-9094-A983DDA4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6195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12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341F6-70FB-45DB-8EC8-8D7C0A9E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6775"/>
            <a:ext cx="13668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本地图谱交互已有可量化的基础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3231-2C54-4B19-9BDB-8F1B93B3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38325"/>
            <a:ext cx="13144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下列数据来自合成中文会议样本；用于说明界面链路，不代表端到端 AI 效果。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249E9-3878-45FB-A916-C4A46B1C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5991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rPr>
              <a:t>200 条发言 / 206 节点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9E091C-D6B4-4717-9F15-30FC9BF1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003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500 条发言 / 506 节点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7B7B5-C04A-4E51-BCCE-453E172A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3638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首屏绘制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D74DE-A6D9-443C-AA7B-9F09EB58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95650"/>
            <a:ext cx="2476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656"/>
          </a:bodyPr>
          <a:lstStyle xmlns:a="http://schemas.openxmlformats.org/drawingml/2006/main">
            <a:defPPr algn="l">
              <a:defRPr sz="4800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800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rPr>
              <a:t>36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31FEE-0FE0-46FF-A1B5-7B009F8F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95650"/>
            <a:ext cx="2476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656"/>
          </a:bodyPr>
          <a:lstStyle xmlns:a="http://schemas.openxmlformats.org/drawingml/2006/main">
            <a:defPPr algn="l">
              <a:defRPr sz="480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80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81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3652C7-0011-4EDE-8989-23DFE57D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3495675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B1A114-73B3-499B-A3A0-2047743A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00525"/>
            <a:ext cx="1344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1DA8E-D3B4-4C60-90FD-8B809FA0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3638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完整刷新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5A7FEE-E1A9-4B11-B9C8-ACC9AC60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05325"/>
            <a:ext cx="2476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656"/>
          </a:bodyPr>
          <a:lstStyle xmlns:a="http://schemas.openxmlformats.org/drawingml/2006/main">
            <a:defPPr algn="l">
              <a:defRPr sz="4800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800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rPr>
              <a:t>457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CFC6D4-88A6-4E99-8B60-C51CE92A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505325"/>
            <a:ext cx="2476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656"/>
          </a:bodyPr>
          <a:lstStyle xmlns:a="http://schemas.openxmlformats.org/drawingml/2006/main">
            <a:defPPr algn="l">
              <a:defRPr sz="480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80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637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EBC71B-221D-414F-88F0-A570EB04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470535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56E9E6-DB35-44B8-82AB-C0C2C592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410200"/>
            <a:ext cx="1344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7621A8-4D7A-4B46-8B2F-E7C1EB19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00725"/>
            <a:ext cx="3638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SVG 导出中位数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AE1F95-0FDF-410A-AE3A-3EF2D3FC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15000"/>
            <a:ext cx="2476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656"/>
          </a:bodyPr>
          <a:lstStyle xmlns:a="http://schemas.openxmlformats.org/drawingml/2006/main">
            <a:defPPr algn="l">
              <a:defRPr sz="4800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800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rPr>
              <a:t>5.1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65A203-6DEC-4C23-864D-C60D1546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715000"/>
            <a:ext cx="2476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656"/>
          </a:bodyPr>
          <a:lstStyle xmlns:a="http://schemas.openxmlformats.org/drawingml/2006/main">
            <a:defPPr algn="l">
              <a:defRPr sz="480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80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9.9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9629B9-4F34-4738-AEDC-12D7424B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5915025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10BE23-56F5-4FC0-A500-459699E2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619875"/>
            <a:ext cx="1344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50810E-0CE3-4585-A2E9-27B8462C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7219950"/>
            <a:ext cx="1333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8B66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F8B6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F8B665"/>
                </a:solidFill>
                <a:latin typeface="Hiragino Sans GB"/>
                <a:ea typeface="Hiragino Sans GB"/>
                <a:cs typeface="Hiragino Sans GB"/>
              </a:rPr>
              <a:t>测试条件：Chrome 154 / macOS / 1280×720。首屏与刷新为单次观测，导出为 5 次中位数。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3DF449-8621-46C9-9F05-19AE2FEA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72425"/>
            <a:ext cx="1379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24EC8C-5834-4680-A3D3-17D170E7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867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会脉 · AI 软件赛道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0417FB-684C-4962-A0D9-89118AC7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08672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AIC-2026-48412786</a:t>
            </a:r>
          </a:p>
        </p:txBody>
      </p:sp>
    </p:spTree>
    <p:extLst>
      <p:ext uri="{BB962C8B-B14F-4D97-AF65-F5344CB8AC3E}">
        <p14:creationId xmlns:p14="http://schemas.microsoft.com/office/powerpoint/2010/main" val="1289967090"/>
      </p:ext>
    </p:extLst>
  </p:cSld>
  <p:transition spd="med">
    <p:fade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2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DFBDA9-0354-4C1C-B26B-57CD39EED7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8929ccc88e4f2e"/>
          <a:srcRect xmlns:a="http://schemas.openxmlformats.org/drawingml/2006/main" l="0" t="1195" r="0" b="1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0957A-B719-474E-9857-542628C9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E">
                  <a:alpha val="94000"/>
                </a:srgbClr>
              </a:gs>
              <a:gs pos="50000">
                <a:srgbClr val="0C111B">
                  <a:alpha val="82000"/>
                </a:srgbClr>
              </a:gs>
              <a:gs pos="100000">
                <a:srgbClr val="0C111B">
                  <a:alpha val="86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B7418-B206-45C1-BDD1-169BBF4B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76625"/>
            <a:ext cx="8572500" cy="46672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79CF">
                  <a:alpha val="18000"/>
                </a:srgbClr>
              </a:gs>
              <a:gs pos="72000">
                <a:srgbClr val="1679C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AC6BB-D8C3-4238-B212-6BF514A7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67771-35FF-46B4-8A1F-58E024D1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创新价值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CD555-C12E-446E-AEAC-0A5CC9F2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6195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13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8A8AD-56D7-44DD-95BA-1EA5C6F3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6775"/>
            <a:ext cx="13668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不是一次性纪要，而是一张可共创的图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2FA18-D4E0-42DC-ABD7-299BF0CA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38325"/>
            <a:ext cx="13144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真实 Demo 里的三种视角，支撑实时、结构化与可追溯。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8E277-07F5-4E45-BAB9-5BD33AED68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0665e564a4747"/>
          <a:srcRect xmlns:a="http://schemas.openxmlformats.org/drawingml/2006/main" l="5697" t="0" r="56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2819400"/>
            <a:ext cx="4429125" cy="3124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DC948-B9FE-4CB9-86C0-D26D258A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086475"/>
            <a:ext cx="4429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8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DABE30-98DA-49D1-ABD4-921D70B5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324600"/>
            <a:ext cx="4333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动态脉络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731EB-014C-465F-8C72-0B322293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867525"/>
            <a:ext cx="4333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图谱持续更新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07DAB-73BD-4657-B6C9-C151B506F9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ac4b2fee94cd5"/>
          <a:srcRect xmlns:a="http://schemas.openxmlformats.org/drawingml/2006/main" l="5697" t="0" r="56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53075" y="2819400"/>
            <a:ext cx="4429125" cy="31242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DA48A5-4597-49CB-BF2F-FA45BE5D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6086475"/>
            <a:ext cx="4429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D420DD-269E-4B7A-99CE-6B90A7EB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6324600"/>
            <a:ext cx="4333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关系聚焦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4D59E2-4088-48A0-8F2D-0058D460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6867525"/>
            <a:ext cx="4333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支持与反对同屏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D08466-E55F-4A68-AD24-74690D9317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0aebe8c6e40df"/>
          <a:srcRect xmlns:a="http://schemas.openxmlformats.org/drawingml/2006/main" l="5697" t="0" r="56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34625" y="2819400"/>
            <a:ext cx="4429125" cy="31242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ECBB8F-ACA8-414C-B57A-7AB9CC66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086475"/>
            <a:ext cx="4429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3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35987F-B68D-48E3-B7D7-45E7158D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324600"/>
            <a:ext cx="4333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议题结构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CAFB13-3E41-4DCA-9FA3-35A85E92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867525"/>
            <a:ext cx="4333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结论回到依据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5D1A0F-A669-4121-A66B-F84BBFC2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72425"/>
            <a:ext cx="1379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F30859-AE7E-4CF1-ADC5-D71C2AB5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867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会脉 · AI 软件赛道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B5E428-A90D-4339-9010-6008AD8A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08672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AIC-2026-48412786</a:t>
            </a:r>
          </a:p>
        </p:txBody>
      </p:sp>
    </p:spTree>
    <p:extLst>
      <p:ext uri="{BB962C8B-B14F-4D97-AF65-F5344CB8AC3E}">
        <p14:creationId xmlns:p14="http://schemas.microsoft.com/office/powerpoint/2010/main" val="383164089"/>
      </p:ext>
    </p:extLst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50"/>
                            </p:stCondLst>
                            <p:childTnLst>
                              <p:animEffect transition="in" filter="fade">
                                <p:cBhvr>
                                  <p:cTn id="5" dur="46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46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50"/>
                            </p:stCondLst>
                            <p:childTnLst>
                              <p:animEffect transition="in" filter="fade">
                                <p:cBhvr>
                                  <p:cTn id="9" dur="46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2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93B8A1-2AAE-4366-9FE2-027300D7FF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7b7e710b44bba"/>
          <a:srcRect xmlns:a="http://schemas.openxmlformats.org/drawingml/2006/main" l="0" t="1195" r="0" b="1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777D0-F867-401A-9A61-9C00C8EE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E">
                  <a:alpha val="94000"/>
                </a:srgbClr>
              </a:gs>
              <a:gs pos="50000">
                <a:srgbClr val="0C111B">
                  <a:alpha val="82000"/>
                </a:srgbClr>
              </a:gs>
              <a:gs pos="100000">
                <a:srgbClr val="0C111B">
                  <a:alpha val="86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F88E8-8F0E-480B-A095-7FFEF320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76625"/>
            <a:ext cx="8572500" cy="46672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79CF">
                  <a:alpha val="18000"/>
                </a:srgbClr>
              </a:gs>
              <a:gs pos="72000">
                <a:srgbClr val="1679C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E1EA2-49E1-4E70-A555-B17C0C06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A2243-629C-4C5B-8A16-C897E728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落地与验证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F1E46-0520-4D10-8F1C-611119CB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6195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14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93E64-0795-44AE-9DBA-341644C4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6775"/>
            <a:ext cx="13668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7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从可演示原型，走向可评估产品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9EBAA-E4E6-4247-B311-BFFC341B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38325"/>
            <a:ext cx="13144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已有交互工作台；下一阶段聚焦真实会议与模型质量。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F0F2C-6005-4FB5-9BA4-E00D7822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91465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378DF6"/>
                </a:solidFill>
                <a:latin typeface="Hiragino Sans GB"/>
                <a:ea typeface="Hiragino Sans GB"/>
                <a:cs typeface="Hiragino Sans GB"/>
              </a:rPr>
              <a:t>现在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572AE8-A213-465A-B632-3BF8D9E2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495675"/>
            <a:ext cx="67437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关系图工作台、过滤编辑、来源关联与导出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2E2CD-33FF-4A89-A06B-E638D7C4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76250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44C7D8-B1C2-4A57-8590-8534492C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095875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下一步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EFA4C-1DE7-475B-B474-FCEDB836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638800"/>
            <a:ext cx="6743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真实麦克风全链路、LLM 质量与多人会议可靠性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F79FF9-645F-4B48-AECE-3DCC344B11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de28384ec640a8"/>
          <a:srcRect xmlns:a="http://schemas.openxmlformats.org/drawingml/2006/main" l="0" t="1091" r="0" b="10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91475" y="2962275"/>
            <a:ext cx="6200775" cy="37909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9535EF-4B8B-4E95-B7B8-CF344D87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838950"/>
            <a:ext cx="601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本地 Demo · 议题结构视角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4E6F4B-A092-4F8E-8CDD-28FC85C4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7229475"/>
            <a:ext cx="1323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8B66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8B6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F8B665"/>
                </a:solidFill>
                <a:latin typeface="Hiragino Sans GB"/>
                <a:ea typeface="Hiragino Sans GB"/>
                <a:cs typeface="Hiragino Sans GB"/>
              </a:rPr>
              <a:t>评估：节点正确率 · 关系一致性 · 可回溯率 · 人工修订量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083E97-0EA2-4D4D-AFA2-5BD06851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72425"/>
            <a:ext cx="1379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077B7B-CD95-4C86-993B-93D3E7FA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867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会脉 · AI 软件赛道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B78A9B-CD46-4B00-BEF3-CFC712D2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08672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AIC-2026-48412786</a:t>
            </a:r>
          </a:p>
        </p:txBody>
      </p:sp>
    </p:spTree>
    <p:extLst>
      <p:ext uri="{BB962C8B-B14F-4D97-AF65-F5344CB8AC3E}">
        <p14:creationId xmlns:p14="http://schemas.microsoft.com/office/powerpoint/2010/main" val="1273741347"/>
      </p:ext>
    </p:extLst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50"/>
                            </p:stCondLst>
                            <p:childTnLst>
                              <p:animEffect transition="in" filter="fade">
                                <p:cBhvr>
                                  <p:cTn id="5" dur="46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46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50"/>
                            </p:stCondLst>
                            <p:childTnLst>
                              <p:animEffect transition="in" filter="fade">
                                <p:cBhvr>
                                  <p:cTn id="9" dur="46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2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B4CCD0-80D1-408B-ADAB-2DB73FFEEB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22ff7627e496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B5177-8446-4514-9E7E-1A617889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01F">
                  <a:alpha val="91000"/>
                </a:srgbClr>
              </a:gs>
              <a:gs pos="48000">
                <a:srgbClr val="071424">
                  <a:alpha val="66000"/>
                </a:srgbClr>
              </a:gs>
              <a:gs pos="100000">
                <a:srgbClr val="071424">
                  <a:alpha val="12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7272F-FCE6-4A69-AD0D-6EB52E01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61F4D-81C6-4231-A101-8240788E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现场演示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377DC-2A2D-49D0-A7BB-DF7E3AB4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6195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15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7314E-AB91-4B88-94E5-F327703D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9715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525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525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25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下一句发言，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525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250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现场看它落图。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61872-A3ED-44C9-BE06-CD9FEA0C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71975"/>
            <a:ext cx="62198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42F02-F03D-47C1-BD68-513DB416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985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3DD8F0"/>
                </a:solidFill>
                <a:latin typeface="Hiragino Sans GB"/>
                <a:ea typeface="Hiragino Sans GB"/>
                <a:cs typeface="Hiragino Sans GB"/>
              </a:rPr>
              <a:t>发言   →   结构化   →   可追溯的图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55727-60A9-4D9F-87C0-D6454035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572250"/>
            <a:ext cx="89058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F1F7FC"/>
                </a:solidFill>
                <a:latin typeface="Hiragino Sans GB"/>
                <a:ea typeface="Hiragino Sans GB"/>
                <a:cs typeface="Hiragino Sans GB"/>
              </a:rPr>
              <a:t>点击节点，回到原话。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CD135-A844-4B0F-9F55-45F2D0E8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72425"/>
            <a:ext cx="1379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4AFE8-ACFD-4F38-8F78-5C181F99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867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哭久了会累队 · 会脉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F1C7D-0622-46B8-96EF-CA419C68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08672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DB2C4"/>
                </a:solidFill>
                <a:latin typeface="Hiragino Sans GB"/>
                <a:ea typeface="Hiragino Sans GB"/>
                <a:cs typeface="Hiragino Sans GB"/>
              </a:rPr>
              <a:t>AIC-2026-48412786</a:t>
            </a:r>
          </a:p>
        </p:txBody>
      </p:sp>
    </p:spTree>
    <p:extLst>
      <p:ext uri="{BB962C8B-B14F-4D97-AF65-F5344CB8AC3E}">
        <p14:creationId xmlns:p14="http://schemas.microsoft.com/office/powerpoint/2010/main" val="1711502709"/>
      </p:ext>
    </p:extLst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50"/>
                            </p:stCondLst>
                            <p:childTnLst>
                              <p:animEffect transition="in" filter="fade">
                                <p:cBhvr>
                                  <p:cTn id="5" dur="46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>
                            <p:stCondLst>
                              <p:cond delay="570"/>
                            </p:stCondLst>
                            <p:childTnLst>
                              <p:animEffect transition="in" filter="fade">
                                <p:cBhvr>
                                  <p:cTn id="7" dur="46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90"/>
                            </p:stCondLst>
                            <p:childTnLst>
                              <p:animEffect transition="in" filter="fade">
                                <p:cBhvr>
                                  <p:cTn id="9" dur="46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2026-10-08T17:35:51.7910000Z</dcterms:created>
  <dcterms:modified xsi:type="dcterms:W3CDTF">2026-10-08T17:35:51.7910000Z</dcterms:modified>
</coreProperties>
</file>